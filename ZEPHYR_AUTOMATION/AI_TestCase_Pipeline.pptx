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0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Ashish (Cognizant)" userId="0366a4c4-4f7d-400d-9341-f75d5d6611f1" providerId="ADAL" clId="{F4DDD920-3766-4DC4-A0A8-AF6D89366549}"/>
    <pc:docChg chg="modSld">
      <pc:chgData name="Kumar, Ashish (Cognizant)" userId="0366a4c4-4f7d-400d-9341-f75d5d6611f1" providerId="ADAL" clId="{F4DDD920-3766-4DC4-A0A8-AF6D89366549}" dt="2026-04-24T13:22:15.331" v="44" actId="20577"/>
      <pc:docMkLst>
        <pc:docMk/>
      </pc:docMkLst>
      <pc:sldChg chg="modSp mod">
        <pc:chgData name="Kumar, Ashish (Cognizant)" userId="0366a4c4-4f7d-400d-9341-f75d5d6611f1" providerId="ADAL" clId="{F4DDD920-3766-4DC4-A0A8-AF6D89366549}" dt="2026-04-24T13:22:06.555" v="28" actId="20577"/>
        <pc:sldMkLst>
          <pc:docMk/>
          <pc:sldMk cId="0" sldId="258"/>
        </pc:sldMkLst>
        <pc:spChg chg="mod">
          <ac:chgData name="Kumar, Ashish (Cognizant)" userId="0366a4c4-4f7d-400d-9341-f75d5d6611f1" providerId="ADAL" clId="{F4DDD920-3766-4DC4-A0A8-AF6D89366549}" dt="2026-04-24T13:22:06.555" v="2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umar, Ashish (Cognizant)" userId="0366a4c4-4f7d-400d-9341-f75d5d6611f1" providerId="ADAL" clId="{F4DDD920-3766-4DC4-A0A8-AF6D89366549}" dt="2026-04-24T13:22:15.331" v="44" actId="20577"/>
        <pc:sldMkLst>
          <pc:docMk/>
          <pc:sldMk cId="0" sldId="259"/>
        </pc:sldMkLst>
        <pc:spChg chg="mod">
          <ac:chgData name="Kumar, Ashish (Cognizant)" userId="0366a4c4-4f7d-400d-9341-f75d5d6611f1" providerId="ADAL" clId="{F4DDD920-3766-4DC4-A0A8-AF6D89366549}" dt="2026-04-24T13:22:15.331" v="44" actId="20577"/>
          <ac:spMkLst>
            <pc:docMk/>
            <pc:sldMk cId="0" sldId="259"/>
            <ac:spMk id="12" creationId="{4A5405CC-D80F-A9CC-FE83-FDB8051D23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173" y="243540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AI-Powered Test Case &amp; Automation Generator</a:t>
            </a:r>
            <a:r>
              <a:rPr lang="en-IN" dirty="0"/>
              <a:t> for Jira User Stories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9295"/>
            <a:ext cx="8229600" cy="4818888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800" dirty="0"/>
              <a:t>Challenges faced during manual test case generation : </a:t>
            </a:r>
          </a:p>
          <a:p>
            <a:pPr marL="0" indent="0">
              <a:spcBef>
                <a:spcPts val="0"/>
              </a:spcBef>
              <a:buNone/>
            </a:pPr>
            <a:endParaRPr lang="en-IN" sz="2800" dirty="0"/>
          </a:p>
          <a:p>
            <a:pPr>
              <a:spcBef>
                <a:spcPts val="0"/>
              </a:spcBef>
            </a:pPr>
            <a:r>
              <a:rPr lang="en-US" sz="2800" b="1" dirty="0"/>
              <a:t>Speed</a:t>
            </a:r>
            <a:r>
              <a:rPr lang="en-US" sz="2800" dirty="0"/>
              <a:t>: Generating test cases and test spec files manually is time challenging and requires a lot of effort. </a:t>
            </a:r>
            <a:endParaRPr sz="28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1" dirty="0"/>
              <a:t>Manual Overhead</a:t>
            </a:r>
            <a:r>
              <a:rPr sz="2800" dirty="0"/>
              <a:t>: Writing test cases from Jira stories is slow and </a:t>
            </a:r>
            <a:r>
              <a:rPr lang="en-IN" sz="2800" dirty="0"/>
              <a:t>more </a:t>
            </a:r>
            <a:r>
              <a:rPr sz="2800" dirty="0"/>
              <a:t>prone to human error.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1" dirty="0"/>
              <a:t>Synchronization Gaps</a:t>
            </a:r>
            <a:r>
              <a:rPr sz="2800" dirty="0"/>
              <a:t>: Test documentation often lags behind rapid requirement changes.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1" dirty="0"/>
              <a:t>Automation Delay</a:t>
            </a:r>
            <a:r>
              <a:rPr sz="2800" dirty="0"/>
              <a:t>: Creating Playwright Page Objects and Specs manually is a bottleneck.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1" dirty="0"/>
              <a:t>Data Inconsistency</a:t>
            </a:r>
            <a:r>
              <a:rPr sz="2800" dirty="0"/>
              <a:t>: Keeping Excel, JSON, and Code in sync manually is challenging.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3186-0CE3-EC1A-DA28-45333F6E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C94D-534F-60C0-4A69-567F3AA4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Solution: AI-Driven Test Automation Framework</a:t>
            </a:r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BC6598-A7E3-C8D3-B532-49FC9F5A9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000" y="2062507"/>
            <a:ext cx="886835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Generation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Converts Jira or local stories into structured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Coverage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AI drafts Positive, Negative, and Edge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Auto-Documentation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Updates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excel </a:t>
            </a:r>
            <a:r>
              <a:rPr lang="en-US" altLang="en-US" sz="2400" dirty="0">
                <a:latin typeface="Arial Unicode MS"/>
              </a:rPr>
              <a:t>files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steps and data.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Automation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Generates Playwright TypeScript and Page Object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Expert Review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Developers approve AI output before it is finalized.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Format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Ensures all test assets remain consistent and maintainable.</a:t>
            </a:r>
          </a:p>
        </p:txBody>
      </p:sp>
    </p:spTree>
    <p:extLst>
      <p:ext uri="{BB962C8B-B14F-4D97-AF65-F5344CB8AC3E}">
        <p14:creationId xmlns:p14="http://schemas.microsoft.com/office/powerpoint/2010/main" val="192376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b="1" dirty="0"/>
              <a:t>AI Engine</a:t>
            </a:r>
            <a:r>
              <a:rPr dirty="0"/>
              <a:t>:</a:t>
            </a:r>
            <a:r>
              <a:rPr lang="en-IN" dirty="0"/>
              <a:t> Gemini API </a:t>
            </a:r>
            <a:r>
              <a:rPr dirty="0"/>
              <a:t>for core test logic and code generation.</a:t>
            </a:r>
          </a:p>
          <a:p>
            <a:pPr>
              <a:spcAft>
                <a:spcPts val="1000"/>
              </a:spcAft>
            </a:pPr>
            <a:r>
              <a:rPr b="1" dirty="0"/>
              <a:t>Automation</a:t>
            </a:r>
            <a:r>
              <a:rPr dirty="0"/>
              <a:t>: Playwright (TypeScript) for E2E testing.</a:t>
            </a:r>
          </a:p>
          <a:p>
            <a:pPr>
              <a:spcAft>
                <a:spcPts val="1000"/>
              </a:spcAft>
            </a:pPr>
            <a:r>
              <a:rPr b="1" dirty="0"/>
              <a:t>Integration</a:t>
            </a:r>
            <a:r>
              <a:rPr dirty="0"/>
              <a:t>: Jira REST API v3 for seamless story fetching.</a:t>
            </a:r>
          </a:p>
          <a:p>
            <a:pPr>
              <a:spcAft>
                <a:spcPts val="1000"/>
              </a:spcAft>
            </a:pPr>
            <a:r>
              <a:rPr b="1" dirty="0"/>
              <a:t>Reporting</a:t>
            </a:r>
            <a:r>
              <a:rPr dirty="0"/>
              <a:t>: </a:t>
            </a:r>
            <a:r>
              <a:rPr dirty="0" err="1"/>
              <a:t>ExcelJS</a:t>
            </a:r>
            <a:r>
              <a:rPr dirty="0"/>
              <a:t> for manual test case management.</a:t>
            </a:r>
          </a:p>
          <a:p>
            <a:pPr>
              <a:spcAft>
                <a:spcPts val="1000"/>
              </a:spcAft>
            </a:pPr>
            <a:r>
              <a:rPr b="1" dirty="0"/>
              <a:t>Infrastructure</a:t>
            </a:r>
            <a:r>
              <a:rPr dirty="0"/>
              <a:t>: Node.js, TypeScript, and JSON snapshots.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3251"/>
            <a:ext cx="8229600" cy="721232"/>
          </a:xfrm>
        </p:spPr>
        <p:txBody>
          <a:bodyPr>
            <a:normAutofit fontScale="90000"/>
          </a:bodyPr>
          <a:lstStyle/>
          <a:p>
            <a:pPr algn="l"/>
            <a:r>
              <a:rPr dirty="0"/>
              <a:t>Architecture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45920" cy="91440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IN" sz="1600" dirty="0"/>
              <a:t>Fetch </a:t>
            </a:r>
            <a:r>
              <a:rPr sz="1600" dirty="0"/>
              <a:t>Jira Story </a:t>
            </a:r>
            <a:r>
              <a:rPr lang="en-IN" sz="1600" dirty="0"/>
              <a:t>and convert it to markdown file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2468880" y="1371600"/>
            <a:ext cx="1499613" cy="1828800"/>
          </a:xfrm>
          <a:prstGeom prst="rect">
            <a:avLst/>
          </a:prstGeom>
          <a:solidFill>
            <a:srgbClr val="8E44A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AI PIPELINE</a:t>
            </a:r>
          </a:p>
          <a:p>
            <a:r>
              <a:rPr dirty="0"/>
              <a:t>(Linter -&gt; AI Agent -&gt;</a:t>
            </a:r>
          </a:p>
          <a:p>
            <a:r>
              <a:rPr dirty="0"/>
              <a:t>Developer Review)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1828800" cy="82296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Manual_Test_Cases.xlsx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377440"/>
            <a:ext cx="1828800" cy="82296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JSON Snapshots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87184" y="1737360"/>
            <a:ext cx="1828800" cy="914400"/>
          </a:xfrm>
          <a:prstGeom prst="rect">
            <a:avLst/>
          </a:prstGeom>
          <a:solidFill>
            <a:srgbClr val="D35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Playwright Spec</a:t>
            </a:r>
          </a:p>
          <a:p>
            <a:r>
              <a:rPr dirty="0"/>
              <a:t>&amp; Page Objects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5405CC-D80F-A9CC-FE83-FDB8051D2314}"/>
              </a:ext>
            </a:extLst>
          </p:cNvPr>
          <p:cNvSpPr/>
          <p:nvPr/>
        </p:nvSpPr>
        <p:spPr>
          <a:xfrm>
            <a:off x="4663440" y="4203192"/>
            <a:ext cx="1645920" cy="91440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IN" sz="1600" dirty="0"/>
              <a:t>Gemini LLM API</a:t>
            </a:r>
            <a:endParaRPr sz="1600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28E7CF2-F343-1787-7337-F725CE86D7A4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5626354" y="1783080"/>
            <a:ext cx="865886" cy="2448814"/>
          </a:xfrm>
          <a:prstGeom prst="bentConnector4">
            <a:avLst>
              <a:gd name="adj1" fmla="val -26401"/>
              <a:gd name="adj2" fmla="val 759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0DE795-BAF5-F07F-C35A-B7C36932B86D}"/>
              </a:ext>
            </a:extLst>
          </p:cNvPr>
          <p:cNvCxnSpPr/>
          <p:nvPr/>
        </p:nvCxnSpPr>
        <p:spPr>
          <a:xfrm>
            <a:off x="5321808" y="3200400"/>
            <a:ext cx="0" cy="1031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69FCF77-D702-51F2-D0E7-D66700D52A8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6309360" y="2651760"/>
            <a:ext cx="1792224" cy="20086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C9B41DB-FDE3-BB11-25D5-EA703646433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3293364" y="3290316"/>
            <a:ext cx="1459992" cy="12801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CE5D79A-653C-0DFE-FBD8-B85D715DC348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V="1">
            <a:off x="3571675" y="2874845"/>
            <a:ext cx="2419350" cy="235819"/>
          </a:xfrm>
          <a:prstGeom prst="bentConnector4">
            <a:avLst>
              <a:gd name="adj1" fmla="val 10464"/>
              <a:gd name="adj2" fmla="val 2826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A574B56-7DC8-0D8B-814B-709293A76FF1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V="1">
            <a:off x="4182110" y="3270250"/>
            <a:ext cx="1413510" cy="450850"/>
          </a:xfrm>
          <a:prstGeom prst="bentConnector4">
            <a:avLst>
              <a:gd name="adj1" fmla="val 35445"/>
              <a:gd name="adj2" fmla="val 1304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1F5D1BE-6B93-FF17-1C9C-03254423C596}"/>
              </a:ext>
            </a:extLst>
          </p:cNvPr>
          <p:cNvCxnSpPr>
            <a:cxnSpLocks/>
          </p:cNvCxnSpPr>
          <p:nvPr/>
        </p:nvCxnSpPr>
        <p:spPr>
          <a:xfrm>
            <a:off x="2103120" y="2286000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761C68B6-FBC7-ECC4-B1C5-29F9BF6F2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3656076"/>
            <a:ext cx="1362456" cy="82296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8984433-1C60-BA17-92E6-62EAB3653D80}"/>
              </a:ext>
            </a:extLst>
          </p:cNvPr>
          <p:cNvCxnSpPr>
            <a:cxnSpLocks/>
          </p:cNvCxnSpPr>
          <p:nvPr/>
        </p:nvCxnSpPr>
        <p:spPr>
          <a:xfrm>
            <a:off x="1078992" y="2769743"/>
            <a:ext cx="0" cy="912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EA3017B-ED39-0430-3575-A5CD594DC30B}"/>
              </a:ext>
            </a:extLst>
          </p:cNvPr>
          <p:cNvCxnSpPr>
            <a:stCxn id="70" idx="0"/>
            <a:endCxn id="4" idx="2"/>
          </p:cNvCxnSpPr>
          <p:nvPr/>
        </p:nvCxnSpPr>
        <p:spPr>
          <a:xfrm flipV="1">
            <a:off x="1280160" y="2743200"/>
            <a:ext cx="0" cy="912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419E012-8E91-3FB1-1429-7844E181E5D5}"/>
              </a:ext>
            </a:extLst>
          </p:cNvPr>
          <p:cNvCxnSpPr>
            <a:cxnSpLocks/>
            <a:endCxn id="70" idx="2"/>
          </p:cNvCxnSpPr>
          <p:nvPr/>
        </p:nvCxnSpPr>
        <p:spPr>
          <a:xfrm rot="10800000" flipV="1">
            <a:off x="1280160" y="2663570"/>
            <a:ext cx="7342632" cy="1815465"/>
          </a:xfrm>
          <a:prstGeom prst="bentConnector4">
            <a:avLst>
              <a:gd name="adj1" fmla="val -342"/>
              <a:gd name="adj2" fmla="val 1730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6781087-585D-C166-620C-024AE29D564C}"/>
              </a:ext>
            </a:extLst>
          </p:cNvPr>
          <p:cNvSpPr txBox="1"/>
          <p:nvPr/>
        </p:nvSpPr>
        <p:spPr>
          <a:xfrm>
            <a:off x="4122166" y="5771006"/>
            <a:ext cx="19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Update Jira Status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5BE10DB3-8B44-B7B3-B6FE-4DC2810C871E}"/>
              </a:ext>
            </a:extLst>
          </p:cNvPr>
          <p:cNvCxnSpPr>
            <a:stCxn id="11" idx="0"/>
            <a:endCxn id="8" idx="0"/>
          </p:cNvCxnSpPr>
          <p:nvPr/>
        </p:nvCxnSpPr>
        <p:spPr>
          <a:xfrm rot="16200000" flipV="1">
            <a:off x="6656832" y="292608"/>
            <a:ext cx="365760" cy="2523744"/>
          </a:xfrm>
          <a:prstGeom prst="bentConnector3">
            <a:avLst>
              <a:gd name="adj1" fmla="val 1625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4A98A72-2196-8170-DE39-A5EAF5EBB407}"/>
              </a:ext>
            </a:extLst>
          </p:cNvPr>
          <p:cNvSpPr txBox="1"/>
          <p:nvPr/>
        </p:nvSpPr>
        <p:spPr>
          <a:xfrm>
            <a:off x="5577840" y="806722"/>
            <a:ext cx="267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Update Automation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sz="2600" b="1" dirty="0"/>
              <a:t>Self-Healing Locators</a:t>
            </a:r>
            <a:r>
              <a:rPr sz="2600" dirty="0"/>
              <a:t>: AI-assisted selector updates for dynamic UI elements</a:t>
            </a:r>
            <a:r>
              <a:rPr lang="en-IN" sz="2600" dirty="0"/>
              <a:t> using Playwright MCP Server.</a:t>
            </a:r>
          </a:p>
          <a:p>
            <a:pPr>
              <a:spcAft>
                <a:spcPts val="1000"/>
              </a:spcAft>
            </a:pPr>
            <a:r>
              <a:rPr lang="en-IN" sz="2600" b="1" dirty="0"/>
              <a:t>Better model integration: </a:t>
            </a:r>
            <a:r>
              <a:rPr lang="en-IN" sz="2600" dirty="0"/>
              <a:t>Can be easily integrated with other models in the future such as Claude, OpenAI as available on the client side.</a:t>
            </a:r>
            <a:endParaRPr sz="2600" b="1" dirty="0"/>
          </a:p>
          <a:p>
            <a:pPr>
              <a:spcAft>
                <a:spcPts val="1000"/>
              </a:spcAft>
            </a:pPr>
            <a:r>
              <a:rPr sz="2600" b="1" dirty="0"/>
              <a:t>CI/CD Integration</a:t>
            </a:r>
            <a:r>
              <a:rPr sz="2600" dirty="0"/>
              <a:t>: Fully automated generation triggered by Jira status updates.</a:t>
            </a:r>
            <a:endParaRPr lang="en-IN" sz="2600" dirty="0"/>
          </a:p>
          <a:p>
            <a:pPr>
              <a:spcAft>
                <a:spcPts val="1000"/>
              </a:spcAft>
            </a:pPr>
            <a:r>
              <a:rPr lang="en-IN" sz="2600" b="1" dirty="0"/>
              <a:t>Jira Test Case Insertion</a:t>
            </a:r>
            <a:r>
              <a:rPr lang="en-IN" sz="2600" dirty="0"/>
              <a:t>: Integrating the manual test cases in the Jira user story using the Jira API.</a:t>
            </a:r>
            <a:endParaRPr sz="2600" b="1" dirty="0"/>
          </a:p>
          <a:p>
            <a:pPr>
              <a:spcAft>
                <a:spcPts val="1000"/>
              </a:spcAft>
            </a:pPr>
            <a:r>
              <a:rPr lang="en-IN" sz="2600" b="1" dirty="0"/>
              <a:t>Dashboard for reports</a:t>
            </a:r>
            <a:r>
              <a:rPr sz="2600" dirty="0"/>
              <a:t>: Incorporating visual </a:t>
            </a:r>
            <a:r>
              <a:rPr lang="en-IN" sz="2600" dirty="0"/>
              <a:t>reports for the</a:t>
            </a:r>
            <a:r>
              <a:rPr sz="2600" dirty="0"/>
              <a:t> generated specs</a:t>
            </a:r>
            <a:r>
              <a:rPr lang="en-IN" sz="2600" dirty="0"/>
              <a:t> files and their automation status.</a:t>
            </a:r>
          </a:p>
          <a:p>
            <a:pPr marL="0" indent="0">
              <a:spcAft>
                <a:spcPts val="10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374</Words>
  <Application>Microsoft Office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Unicode MS</vt:lpstr>
      <vt:lpstr>Calibri</vt:lpstr>
      <vt:lpstr>Office Theme</vt:lpstr>
      <vt:lpstr>AI-Powered Test Case &amp; Automation Generator for Jira User Stories</vt:lpstr>
      <vt:lpstr>Problem Statement</vt:lpstr>
      <vt:lpstr>Solution: AI-Driven Test Automation Framework</vt:lpstr>
      <vt:lpstr>Tech Stack Used</vt:lpstr>
      <vt:lpstr>Architecture Workflow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Kumar, Ashish (Cognizant)</dc:creator>
  <cp:keywords/>
  <dc:description>generated using python-pptx</dc:description>
  <cp:lastModifiedBy>Kumar, Ashish (Cognizant)</cp:lastModifiedBy>
  <cp:revision>3</cp:revision>
  <dcterms:created xsi:type="dcterms:W3CDTF">2013-01-27T09:14:16Z</dcterms:created>
  <dcterms:modified xsi:type="dcterms:W3CDTF">2026-04-24T13:22:23Z</dcterms:modified>
  <cp:category/>
</cp:coreProperties>
</file>